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drawings/drawing2.xml" ContentType="application/vnd.openxmlformats-officedocument.drawingml.chartshape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drawings/drawing3.xml" ContentType="application/vnd.openxmlformats-officedocument.drawingml.chartshape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6.xml" ContentType="application/vnd.openxmlformats-officedocument.presentationml.notes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drawings/drawing4.xml" ContentType="application/vnd.openxmlformats-officedocument.drawingml.chartshape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53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5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3.xml"/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4.xml"/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42A-674F-AC6D-5C94693F8460}"/>
              </c:ext>
            </c:extLst>
          </c:dPt>
          <c:dPt>
            <c:idx val="1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42A-674F-AC6D-5C94693F8460}"/>
              </c:ext>
            </c:extLst>
          </c:dPt>
          <c:dPt>
            <c:idx val="2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42A-674F-AC6D-5C94693F846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42A-674F-AC6D-5C94693F846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42A-674F-AC6D-5C94693F846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42A-674F-AC6D-5C94693F846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15526</c:v>
                </c:pt>
                <c:pt idx="1">
                  <c:v>8003</c:v>
                </c:pt>
                <c:pt idx="2">
                  <c:v>6471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42A-674F-AC6D-5C94693F84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06-094F-9161-2FB67D373469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06-094F-9161-2FB67D373469}"/>
              </c:ext>
            </c:extLst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06-094F-9161-2FB67D3734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6471</c:v>
                </c:pt>
                <c:pt idx="1">
                  <c:v>8003</c:v>
                </c:pt>
                <c:pt idx="2">
                  <c:v>15526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06-094F-9161-2FB67D3734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3309</c:v>
                </c:pt>
                <c:pt idx="1">
                  <c:v>4058</c:v>
                </c:pt>
                <c:pt idx="2">
                  <c:v>7900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2-4744-B447-9A70A5E505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2874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3162</c:v>
                </c:pt>
                <c:pt idx="1">
                  <c:v>3944</c:v>
                </c:pt>
                <c:pt idx="2">
                  <c:v>7624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82-4744-B447-9A70A5E505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846556112304142"/>
          <c:y val="0.11072362782063409"/>
          <c:w val="0.80681221665473635"/>
          <c:h val="0.726040431494286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Customers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CF5-9D4E-B6F1-0909726709CF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CF5-9D4E-B6F1-0909726709CF}"/>
              </c:ext>
            </c:extLst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CF5-9D4E-B6F1-0909726709C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Within SLA</c:v>
                </c:pt>
                <c:pt idx="1">
                  <c:v>Below SLA</c:v>
                </c:pt>
                <c:pt idx="2">
                  <c:v>Above SLA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9710</c:v>
                </c:pt>
                <c:pt idx="1">
                  <c:v>3842</c:v>
                </c:pt>
                <c:pt idx="2">
                  <c:v>1974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CF5-9D4E-B6F1-0909726709C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000000"/>
                </a:solidFill>
                <a:latin typeface="Arial"/>
              </a:rPr>
              <a:t>Avg CSAT by Response 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A6-AE45-86C4-411FDA28E23F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A6-AE45-86C4-411FDA28E23F}"/>
              </c:ext>
            </c:extLst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A6-AE45-86C4-411FDA28E23F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Above SLA</c:v>
                </c:pt>
                <c:pt idx="1">
                  <c:v>Below SLA</c:v>
                </c:pt>
                <c:pt idx="2">
                  <c:v>Within SLA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5.6</c:v>
                </c:pt>
                <c:pt idx="1">
                  <c:v>5.57</c:v>
                </c:pt>
                <c:pt idx="2">
                  <c:v>5.52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A6-AE45-86C4-411FDA28E2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65"/>
          <c:min val="5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900" b="0" i="0" u="none" strike="noStrike" dirty="0">
                <a:solidFill>
                  <a:srgbClr val="000000"/>
                </a:solidFill>
                <a:latin typeface="Arial"/>
              </a:rPr>
              <a:t>Negative Customers by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Customers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28C-2748-B276-661484914D17}"/>
              </c:ext>
            </c:extLst>
          </c:dPt>
          <c:dPt>
            <c:idx val="1"/>
            <c:invertIfNegative val="0"/>
            <c:bubble3D val="0"/>
            <c:spPr>
              <a:solidFill>
                <a:srgbClr val="E573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28C-2748-B276-661484914D17}"/>
              </c:ext>
            </c:extLst>
          </c:dPt>
          <c:dPt>
            <c:idx val="2"/>
            <c:invertIfNegative val="0"/>
            <c:bubble3D val="0"/>
            <c:spPr>
              <a:solidFill>
                <a:srgbClr val="2874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28C-2748-B276-661484914D17}"/>
              </c:ext>
            </c:extLst>
          </c:dPt>
          <c:dPt>
            <c:idx val="3"/>
            <c:invertIfNegative val="0"/>
            <c:bubble3D val="0"/>
            <c:spPr>
              <a:solidFill>
                <a:srgbClr val="90CA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28C-2748-B276-661484914D1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Call-Center</c:v>
                </c:pt>
                <c:pt idx="1">
                  <c:v>Chatbot</c:v>
                </c:pt>
                <c:pt idx="2">
                  <c:v>Email</c:v>
                </c:pt>
                <c:pt idx="3">
                  <c:v>Web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5028</c:v>
                </c:pt>
                <c:pt idx="1">
                  <c:v>3884</c:v>
                </c:pt>
                <c:pt idx="2">
                  <c:v>3582</c:v>
                </c:pt>
                <c:pt idx="3">
                  <c:v>3032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28C-2748-B276-661484914D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900" b="0" i="0" u="none" strike="noStrike">
                <a:solidFill>
                  <a:srgbClr val="000000"/>
                </a:solidFill>
                <a:latin typeface="Arial"/>
              </a:rPr>
              <a:t>Avg CSAT by Channel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C7-9641-B3C0-CD0F005557D7}"/>
              </c:ext>
            </c:extLst>
          </c:dPt>
          <c:dPt>
            <c:idx val="1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C7-9641-B3C0-CD0F005557D7}"/>
              </c:ext>
            </c:extLst>
          </c:dPt>
          <c:dPt>
            <c:idx val="2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C7-9641-B3C0-CD0F005557D7}"/>
              </c:ext>
            </c:extLst>
          </c:dPt>
          <c:dPt>
            <c:idx val="3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C7-9641-B3C0-CD0F005557D7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Call-Center</c:v>
                </c:pt>
                <c:pt idx="1">
                  <c:v>Chatbot</c:v>
                </c:pt>
                <c:pt idx="2">
                  <c:v>Email</c:v>
                </c:pt>
                <c:pt idx="3">
                  <c:v>Web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5.61</c:v>
                </c:pt>
                <c:pt idx="1">
                  <c:v>5.46</c:v>
                </c:pt>
                <c:pt idx="2">
                  <c:v>5.49</c:v>
                </c:pt>
                <c:pt idx="3">
                  <c:v>5.61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0C7-9641-B3C0-CD0F005557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65"/>
          <c:min val="5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Customer Volume by Issue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Customers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5E-D247-933C-39964411078E}"/>
              </c:ext>
            </c:extLst>
          </c:dPt>
          <c:dPt>
            <c:idx val="1"/>
            <c:invertIfNegative val="0"/>
            <c:bubble3D val="0"/>
            <c:spPr>
              <a:solidFill>
                <a:srgbClr val="F57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5E-D247-933C-39964411078E}"/>
              </c:ext>
            </c:extLst>
          </c:dPt>
          <c:dPt>
            <c:idx val="2"/>
            <c:invertIfNegative val="0"/>
            <c:bubble3D val="0"/>
            <c:spPr>
              <a:solidFill>
                <a:srgbClr val="FFA7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5E-D247-933C-39964411078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Billing Question</c:v>
                </c:pt>
                <c:pt idx="1">
                  <c:v>Service Outage</c:v>
                </c:pt>
                <c:pt idx="2">
                  <c:v>Payments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8030</c:v>
                </c:pt>
                <c:pt idx="1">
                  <c:v>1600</c:v>
                </c:pt>
                <c:pt idx="2">
                  <c:v>1584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5E-D247-933C-3996441107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00000"/>
                </a:solidFill>
                <a:latin typeface="Arial"/>
              </a:rPr>
              <a:t>Avg CSAT by Issue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43C-4043-8FAA-18242714F3B1}"/>
              </c:ext>
            </c:extLst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3C-4043-8FAA-18242714F3B1}"/>
              </c:ext>
            </c:extLst>
          </c:dPt>
          <c:dPt>
            <c:idx val="2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3C-4043-8FAA-18242714F3B1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Billing Question</c:v>
                </c:pt>
                <c:pt idx="1">
                  <c:v>Payments</c:v>
                </c:pt>
                <c:pt idx="2">
                  <c:v>Service Outage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5.53</c:v>
                </c:pt>
                <c:pt idx="1">
                  <c:v>5.63</c:v>
                </c:pt>
                <c:pt idx="2">
                  <c:v>5.51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43C-4043-8FAA-18242714F3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67"/>
          <c:min val="5.4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Negative Sentiment by Issue (Service Quality Focus)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 Sentiment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93-B640-BA09-9471928B93D4}"/>
              </c:ext>
            </c:extLst>
          </c:dPt>
          <c:dPt>
            <c:idx val="1"/>
            <c:invertIfNegative val="0"/>
            <c:bubble3D val="0"/>
            <c:spPr>
              <a:solidFill>
                <a:srgbClr val="FB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493-B640-BA09-9471928B93D4}"/>
              </c:ext>
            </c:extLst>
          </c:dPt>
          <c:dPt>
            <c:idx val="2"/>
            <c:invertIfNegative val="0"/>
            <c:bubble3D val="0"/>
            <c:spPr>
              <a:solidFill>
                <a:srgbClr val="EF53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493-B640-BA09-9471928B93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Billing Question</c:v>
                </c:pt>
                <c:pt idx="1">
                  <c:v>Payments</c:v>
                </c:pt>
                <c:pt idx="2">
                  <c:v>Service Outage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6934</c:v>
                </c:pt>
                <c:pt idx="1">
                  <c:v>1406</c:v>
                </c:pt>
                <c:pt idx="2">
                  <c:v>1370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493-B640-BA09-9471928B93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Call Center vs Avg CSAT Score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3F0-D646-A13F-CC82AA2B172F}"/>
              </c:ext>
            </c:extLst>
          </c:dPt>
          <c:dPt>
            <c:idx val="1"/>
            <c:invertIfNegative val="0"/>
            <c:bubble3D val="0"/>
            <c:spPr>
              <a:solidFill>
                <a:srgbClr val="66BB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3F0-D646-A13F-CC82AA2B172F}"/>
              </c:ext>
            </c:extLst>
          </c:dPt>
          <c:dPt>
            <c:idx val="2"/>
            <c:invertIfNegative val="0"/>
            <c:bubble3D val="0"/>
            <c:spPr>
              <a:solidFill>
                <a:srgbClr val="2874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3F0-D646-A13F-CC82AA2B172F}"/>
              </c:ext>
            </c:extLst>
          </c:dPt>
          <c:dPt>
            <c:idx val="3"/>
            <c:invertIfNegative val="0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3F0-D646-A13F-CC82AA2B172F}"/>
              </c:ext>
            </c:extLst>
          </c:dPt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Chennai</c:v>
                </c:pt>
                <c:pt idx="1">
                  <c:v>Delhi</c:v>
                </c:pt>
                <c:pt idx="2">
                  <c:v>Mumbai</c:v>
                </c:pt>
                <c:pt idx="3">
                  <c:v>Kolkata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5.63</c:v>
                </c:pt>
                <c:pt idx="1">
                  <c:v>5.57</c:v>
                </c:pt>
                <c:pt idx="2">
                  <c:v>5.53</c:v>
                </c:pt>
                <c:pt idx="3">
                  <c:v>5.46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3F0-D646-A13F-CC82AA2B17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68"/>
          <c:min val="5.3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Call Center vs Number of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E2C-5348-AD2E-CFA412E28914}"/>
              </c:ext>
            </c:extLst>
          </c:dPt>
          <c:dPt>
            <c:idx val="1"/>
            <c:invertIfNegative val="0"/>
            <c:bubble3D val="0"/>
            <c:spPr>
              <a:solidFill>
                <a:srgbClr val="1A1A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2C-5348-AD2E-CFA412E28914}"/>
              </c:ext>
            </c:extLst>
          </c:dPt>
          <c:dPt>
            <c:idx val="2"/>
            <c:invertIfNegative val="0"/>
            <c:bubble3D val="0"/>
            <c:spPr>
              <a:solidFill>
                <a:srgbClr val="2874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2C-5348-AD2E-CFA412E28914}"/>
              </c:ext>
            </c:extLst>
          </c:dPt>
          <c:dPt>
            <c:idx val="3"/>
            <c:invertIfNegative val="0"/>
            <c:bubble3D val="0"/>
            <c:spPr>
              <a:solidFill>
                <a:srgbClr val="FB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E2C-5348-AD2E-CFA412E2891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Chennai</c:v>
                </c:pt>
                <c:pt idx="1">
                  <c:v>Delhi</c:v>
                </c:pt>
                <c:pt idx="2">
                  <c:v>Mumbai</c:v>
                </c:pt>
                <c:pt idx="3">
                  <c:v>Kolkata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963</c:v>
                </c:pt>
                <c:pt idx="1">
                  <c:v>4651</c:v>
                </c:pt>
                <c:pt idx="2">
                  <c:v>3782</c:v>
                </c:pt>
                <c:pt idx="3">
                  <c:v>1818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E2C-5348-AD2E-CFA412E289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Avg CSAT Score by Month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CSAT</c:v>
                </c:pt>
              </c:strCache>
            </c:strRef>
          </c:tx>
          <c:spPr>
            <a:ln w="25400" cap="flat">
              <a:gradFill>
                <a:gsLst>
                  <a:gs pos="93999">
                    <a:srgbClr val="FF0000"/>
                  </a:gs>
                  <a:gs pos="0">
                    <a:schemeClr val="accent6">
                      <a:lumMod val="50000"/>
                    </a:schemeClr>
                  </a:gs>
                  <a:gs pos="74000">
                    <a:schemeClr val="accent6">
                      <a:lumMod val="60000"/>
                      <a:lumOff val="40000"/>
                    </a:schemeClr>
                  </a:gs>
                  <a:gs pos="83000">
                    <a:schemeClr val="accent4">
                      <a:lumMod val="60000"/>
                      <a:lumOff val="40000"/>
                    </a:schemeClr>
                  </a:gs>
                  <a:gs pos="100000">
                    <a:srgbClr val="FF0000"/>
                  </a:gs>
                </a:gsLst>
                <a:lin ang="5400000" scaled="1"/>
              </a:gradFill>
              <a:prstDash val="solid"/>
              <a:round/>
            </a:ln>
            <a:effectLst/>
          </c:spPr>
          <c:marker>
            <c:symbol val="circle"/>
            <c:size val="6"/>
            <c:spPr>
              <a:gradFill>
                <a:gsLst>
                  <a:gs pos="0">
                    <a:schemeClr val="accent6">
                      <a:lumMod val="50000"/>
                    </a:schemeClr>
                  </a:gs>
                  <a:gs pos="69000">
                    <a:schemeClr val="accent6">
                      <a:lumMod val="60000"/>
                      <a:lumOff val="40000"/>
                    </a:schemeClr>
                  </a:gs>
                  <a:gs pos="83000">
                    <a:schemeClr val="accent4">
                      <a:lumMod val="60000"/>
                      <a:lumOff val="40000"/>
                    </a:schemeClr>
                  </a:gs>
                  <a:gs pos="100000">
                    <a:srgbClr val="FF0000"/>
                  </a:gs>
                </a:gsLst>
                <a:lin ang="5400000" scaled="1"/>
              </a:gradFill>
              <a:ln w="9525" cap="flat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  <a:round/>
              </a:ln>
              <a:effectLst/>
            </c:spPr>
          </c:marker>
          <c:dPt>
            <c:idx val="5"/>
            <c:marker>
              <c:spPr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69000">
                      <a:schemeClr val="accent6">
                        <a:lumMod val="60000"/>
                        <a:lumOff val="40000"/>
                      </a:schemeClr>
                    </a:gs>
                    <a:gs pos="83000">
                      <a:schemeClr val="accent4">
                        <a:lumMod val="60000"/>
                        <a:lumOff val="40000"/>
                      </a:schemeClr>
                    </a:gs>
                    <a:gs pos="100000">
                      <a:srgbClr val="FF0000"/>
                    </a:gs>
                  </a:gsLst>
                  <a:lin ang="5400000" scaled="1"/>
                </a:gradFill>
                <a:ln w="9525" cap="flat">
                  <a:solidFill>
                    <a:srgbClr val="FF0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F150-E349-896F-2676C57E2D7F}"/>
              </c:ext>
            </c:extLst>
          </c:dPt>
          <c:dLbls>
            <c:dLbl>
              <c:idx val="0"/>
              <c:layout>
                <c:manualLayout>
                  <c:x val="-3.8416075650118217E-2"/>
                  <c:y val="-5.95238095238094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150-E349-896F-2676C57E2D7F}"/>
                </c:ext>
              </c:extLst>
            </c:dLbl>
            <c:dLbl>
              <c:idx val="1"/>
              <c:layout>
                <c:manualLayout>
                  <c:x val="-2.955082742316785E-2"/>
                  <c:y val="-4.62962962962963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50-E349-896F-2676C57E2D7F}"/>
                </c:ext>
              </c:extLst>
            </c:dLbl>
            <c:dLbl>
              <c:idx val="2"/>
              <c:layout>
                <c:manualLayout>
                  <c:x val="-2.955082742316785E-2"/>
                  <c:y val="-7.27513227513227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150-E349-896F-2676C57E2D7F}"/>
                </c:ext>
              </c:extLst>
            </c:dLbl>
            <c:dLbl>
              <c:idx val="3"/>
              <c:layout>
                <c:manualLayout>
                  <c:x val="-2.5118203309692673E-2"/>
                  <c:y val="-7.275132275132274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150-E349-896F-2676C57E2D7F}"/>
                </c:ext>
              </c:extLst>
            </c:dLbl>
            <c:dLbl>
              <c:idx val="4"/>
              <c:layout>
                <c:manualLayout>
                  <c:x val="-2.8073286052009511E-2"/>
                  <c:y val="-4.62962962962963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50-E349-896F-2676C57E2D7F}"/>
                </c:ext>
              </c:extLst>
            </c:dLbl>
            <c:dLbl>
              <c:idx val="6"/>
              <c:layout>
                <c:manualLayout>
                  <c:x val="-2.5118203309692673E-2"/>
                  <c:y val="-5.29100529100529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150-E349-896F-2676C57E2D7F}"/>
                </c:ext>
              </c:extLst>
            </c:dLbl>
            <c:dLbl>
              <c:idx val="7"/>
              <c:layout>
                <c:manualLayout>
                  <c:x val="-2.2163120567375887E-2"/>
                  <c:y val="-5.952380952380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150-E349-896F-2676C57E2D7F}"/>
                </c:ext>
              </c:extLst>
            </c:dLbl>
            <c:dLbl>
              <c:idx val="8"/>
              <c:layout>
                <c:manualLayout>
                  <c:x val="-3.1028368794326241E-2"/>
                  <c:y val="-5.9523809523809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150-E349-896F-2676C57E2D7F}"/>
                </c:ext>
              </c:extLst>
            </c:dLbl>
            <c:dLbl>
              <c:idx val="9"/>
              <c:layout>
                <c:manualLayout>
                  <c:x val="-2.9550827423167957E-2"/>
                  <c:y val="-6.61375661375661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150-E349-896F-2676C57E2D7F}"/>
                </c:ext>
              </c:extLst>
            </c:dLbl>
            <c:dLbl>
              <c:idx val="11"/>
              <c:layout>
                <c:manualLayout>
                  <c:x val="-1.3297872340425532E-2"/>
                  <c:y val="-4.629629629629629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150-E349-896F-2676C57E2D7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5.54</c:v>
                </c:pt>
                <c:pt idx="1">
                  <c:v>5.62</c:v>
                </c:pt>
                <c:pt idx="2">
                  <c:v>5.66</c:v>
                </c:pt>
                <c:pt idx="3">
                  <c:v>5.78</c:v>
                </c:pt>
                <c:pt idx="4">
                  <c:v>5.84</c:v>
                </c:pt>
                <c:pt idx="5">
                  <c:v>5.31</c:v>
                </c:pt>
                <c:pt idx="6">
                  <c:v>5.5</c:v>
                </c:pt>
                <c:pt idx="7">
                  <c:v>5.5</c:v>
                </c:pt>
                <c:pt idx="8">
                  <c:v>5.49</c:v>
                </c:pt>
                <c:pt idx="9">
                  <c:v>5.53</c:v>
                </c:pt>
                <c:pt idx="10">
                  <c:v>5.64</c:v>
                </c:pt>
                <c:pt idx="11">
                  <c:v>5.38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2CF-0D4F-84F1-4C9AD9B072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.95"/>
          <c:min val="5.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0.4449</cdr:x>
      <cdr:y>0</cdr:y>
    </cdr:from>
    <cdr:to>
      <cdr:x>0.67218</cdr:x>
      <cdr:y>0.5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BAD01E2D-0B74-6732-73B3-D92DAC898DC4}"/>
            </a:ext>
          </a:extLst>
        </cdr:cNvPr>
        <cdr:cNvSpPr txBox="1"/>
      </cdr:nvSpPr>
      <cdr:spPr>
        <a:xfrm xmlns:a="http://schemas.openxmlformats.org/drawingml/2006/main">
          <a:off x="1790007" y="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0.29373</cdr:x>
      <cdr:y>0</cdr:y>
    </cdr:from>
    <cdr:to>
      <cdr:x>0.64153</cdr:x>
      <cdr:y>0.09409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12B3CE8B-42D2-BD5D-6D4B-E75E2C39007C}"/>
            </a:ext>
          </a:extLst>
        </cdr:cNvPr>
        <cdr:cNvSpPr txBox="1"/>
      </cdr:nvSpPr>
      <cdr:spPr>
        <a:xfrm xmlns:a="http://schemas.openxmlformats.org/drawingml/2006/main">
          <a:off x="1181792" y="-6927"/>
          <a:ext cx="1399309" cy="17207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900" kern="1200" dirty="0"/>
            <a:t>Gender(number of customer) vs Sentiment</a:t>
          </a: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0.33206</cdr:x>
      <cdr:y>0</cdr:y>
    </cdr:from>
    <cdr:to>
      <cdr:x>0.84292</cdr:x>
      <cdr:y>0.11823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73DC10DC-33D0-4743-CFD0-F386FE03BA13}"/>
            </a:ext>
          </a:extLst>
        </cdr:cNvPr>
        <cdr:cNvSpPr txBox="1"/>
      </cdr:nvSpPr>
      <cdr:spPr>
        <a:xfrm xmlns:a="http://schemas.openxmlformats.org/drawingml/2006/main">
          <a:off x="1335997" y="-8092"/>
          <a:ext cx="2055376" cy="21298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900" kern="1200" dirty="0"/>
            <a:t>Number of Negative Customers By Response Time</a:t>
          </a:r>
        </a:p>
      </cdr:txBody>
    </cdr:sp>
  </cdr:relSizeAnchor>
</c:userShapes>
</file>

<file path=ppt/drawings/drawing4.xml><?xml version="1.0" encoding="utf-8"?>
<c:userShapes xmlns:c="http://schemas.openxmlformats.org/drawingml/2006/chart">
  <cdr:relSizeAnchor xmlns:cdr="http://schemas.openxmlformats.org/drawingml/2006/chartDrawing">
    <cdr:from>
      <cdr:x>0.4726</cdr:x>
      <cdr:y>0.84632</cdr:y>
    </cdr:from>
    <cdr:to>
      <cdr:x>0.57898</cdr:x>
      <cdr:y>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526D7146-5A5D-7124-F907-9763F1183277}"/>
            </a:ext>
          </a:extLst>
        </cdr:cNvPr>
        <cdr:cNvSpPr txBox="1"/>
      </cdr:nvSpPr>
      <cdr:spPr>
        <a:xfrm xmlns:a="http://schemas.openxmlformats.org/drawingml/2006/main">
          <a:off x="4062153" y="1625138"/>
          <a:ext cx="914400" cy="29510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kern="1200" dirty="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218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7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3.xml"/><Relationship Id="rId4" Type="http://schemas.openxmlformats.org/officeDocument/2006/relationships/chart" Target="../charts/char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0040" y="1554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Customer Service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2331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Retention Insights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0040" y="3063240"/>
            <a:ext cx="4572000" cy="36576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3200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customer service factors impacting retention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actionable recommendations for improvement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4206240"/>
            <a:ext cx="192024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30,000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D4"/>
                </a:solidFill>
              </a:rPr>
              <a:t>Total Customers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4600" y="4206240"/>
            <a:ext cx="192024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51.7%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60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D4"/>
                </a:solidFill>
              </a:rPr>
              <a:t>Negative Sentiment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4206240"/>
            <a:ext cx="192024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 Cities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0916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D4"/>
                </a:solidFill>
              </a:rPr>
              <a:t>Call Centers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03720" y="4183380"/>
            <a:ext cx="1920240" cy="7315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903720" y="42245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5.57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03720" y="45720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ED4"/>
                </a:solidFill>
              </a:rPr>
              <a:t>Avg CSAT Score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33509" y="68303"/>
            <a:ext cx="6608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88AA"/>
                </a:solidFill>
              </a:rPr>
              <a:t>March 2026</a:t>
            </a:r>
            <a:endParaRPr lang="en-US" sz="1000" dirty="0"/>
          </a:p>
        </p:txBody>
      </p:sp>
      <p:pic>
        <p:nvPicPr>
          <p:cNvPr id="1028" name="Picture 4" descr="flipkart logo transparent vector #39906">
            <a:extLst>
              <a:ext uri="{FF2B5EF4-FFF2-40B4-BE49-F238E27FC236}">
                <a16:creationId xmlns:a16="http://schemas.microsoft.com/office/drawing/2014/main" id="{4527594C-D478-5019-474C-2C4745B29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73" y="-313441"/>
            <a:ext cx="2223655" cy="1647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96596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53935"/>
                </a:solidFill>
              </a:rPr>
              <a:t>15,526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Negative Sentiments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51.7% of all customers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68880" y="1051560"/>
            <a:ext cx="1965960" cy="73152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6888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7C00"/>
                </a:solidFill>
              </a:rPr>
              <a:t>6,934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334155"/>
                </a:solidFill>
              </a:rPr>
              <a:t>Billing Complaints with Negative Sentiment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Largest complaint category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87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051560"/>
            <a:ext cx="1965960" cy="73152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74F0"/>
                </a:solidFill>
              </a:rPr>
              <a:t>5.46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634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Lowest Avg. CSAT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Kolkata Call Center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1051560"/>
            <a:ext cx="19659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58000" y="1051560"/>
            <a:ext cx="196596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E7D32"/>
                </a:solidFill>
              </a:rPr>
              <a:t>5.84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85800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34155"/>
                </a:solidFill>
              </a:rPr>
              <a:t>Best Avg. CSAT Month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103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May – peak performance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5E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2862072"/>
            <a:ext cx="502920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sentiment dominates at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all Reasons, driven primarily by billing questions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(6,934 cases)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about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contribution.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impacts satisfaction: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'Above SLA'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responses Avg. CSAT score higher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(5.60)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'Within SLA' (5.52)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Center channel has most negative customers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(5,028)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tied for best Avg. CSAT with Web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(5.61)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 call center underperforms with lowest Avg. CSAT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(5.46)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despite moderate volume about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(1818)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CSAT falls sharply in June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(5.31)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last threshold of </a:t>
            </a: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5.84(May)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seasonal pattern requiring investigation.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760720" y="2578608"/>
            <a:ext cx="3017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60720" y="2633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5E"/>
                </a:solidFill>
              </a:rPr>
              <a:t>Sentiment Distribution</a:t>
            </a:r>
            <a:endParaRPr lang="en-US" sz="11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806440" y="2880360"/>
          <a:ext cx="292608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Customer Satisfaction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Hypothesis 1: Sentiment Distribution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30840652"/>
              </p:ext>
            </p:extLst>
          </p:nvPr>
        </p:nvGraphicFramePr>
        <p:xfrm>
          <a:off x="274320" y="1261872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31272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51.7%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customers express negative sentiment — the largest group, indicating</a:t>
            </a:r>
            <a:r>
              <a:rPr lang="en-US" sz="1000" dirty="0"/>
              <a:t>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widespread dissatisfaction that poses a serious retention risk.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0" y="960120"/>
            <a:ext cx="41148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Hypothesis 2: Gender vs Sentiment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3022039962"/>
              </p:ext>
            </p:extLst>
          </p:nvPr>
        </p:nvGraphicFramePr>
        <p:xfrm>
          <a:off x="4754880" y="1261872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4754880" y="3127248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shows no significant difference in sentiment distribution — both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and male customers reflect similar patterns of dissatisfaction.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FFF8E1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</a:rPr>
              <a:t>💡  Key Insight: 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737360" y="390448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Negative sentiment is the Major driver across all demographics. Gender-neutral dissatisfaction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suggests the problem lies within the system  — billing questions, poor resolution quality, and service outages are major factor.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Service Quality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52028"/>
            <a:ext cx="4023360" cy="256032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H : Response Time &amp; Negative Sentiment Customers volume Analysis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929247250"/>
              </p:ext>
            </p:extLst>
          </p:nvPr>
        </p:nvGraphicFramePr>
        <p:xfrm>
          <a:off x="274320" y="1216152"/>
          <a:ext cx="4023360" cy="1801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117307387"/>
              </p:ext>
            </p:extLst>
          </p:nvPr>
        </p:nvGraphicFramePr>
        <p:xfrm>
          <a:off x="274320" y="3274788"/>
          <a:ext cx="402336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754880" y="960120"/>
            <a:ext cx="4023360" cy="256032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4754880" y="960120"/>
            <a:ext cx="402336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 : Channel &amp; Negative Sentiment Customers volume Analysis</a:t>
            </a:r>
            <a:endParaRPr lang="en-US" sz="1000" dirty="0"/>
          </a:p>
        </p:txBody>
      </p:sp>
      <p:graphicFrame>
        <p:nvGraphicFramePr>
          <p:cNvPr id="11" name="Chart 2"/>
          <p:cNvGraphicFramePr/>
          <p:nvPr/>
        </p:nvGraphicFramePr>
        <p:xfrm>
          <a:off x="4754880" y="1243584"/>
          <a:ext cx="402336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3"/>
          <p:cNvGraphicFramePr/>
          <p:nvPr>
            <p:extLst>
              <p:ext uri="{D42A27DB-BD31-4B8C-83A1-F6EECF244321}">
                <p14:modId xmlns:p14="http://schemas.microsoft.com/office/powerpoint/2010/main" val="2031886925"/>
              </p:ext>
            </p:extLst>
          </p:nvPr>
        </p:nvGraphicFramePr>
        <p:xfrm>
          <a:off x="4754880" y="3238230"/>
          <a:ext cx="402336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Text 7"/>
          <p:cNvSpPr/>
          <p:nvPr/>
        </p:nvSpPr>
        <p:spPr>
          <a:xfrm>
            <a:off x="274320" y="47767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5">
                    <a:lumMod val="75000"/>
                  </a:schemeClr>
                </a:solidFill>
              </a:rPr>
              <a:t>Insight: Chatbot has lowest CSAT (5.46) despite moderate volume of 3884 Negative customers — automated Issues resolution quality needs urgent improvement.</a:t>
            </a:r>
            <a:endParaRPr lang="en-US" sz="1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F33F7695-C109-A72B-D789-59729CC2AAA1}"/>
              </a:ext>
            </a:extLst>
          </p:cNvPr>
          <p:cNvSpPr/>
          <p:nvPr/>
        </p:nvSpPr>
        <p:spPr>
          <a:xfrm>
            <a:off x="274320" y="3018138"/>
            <a:ext cx="4023360" cy="256032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r>
              <a:rPr lang="en-US" sz="900" b="1" dirty="0">
                <a:solidFill>
                  <a:srgbClr val="FFFFFF"/>
                </a:solidFill>
              </a:rPr>
              <a:t>H : Response Time &amp; Avg. CSAT Analysis</a:t>
            </a:r>
            <a:endParaRPr lang="en-US" sz="900" dirty="0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6592F820-E10D-58BF-7F8A-0F4AED6269FD}"/>
              </a:ext>
            </a:extLst>
          </p:cNvPr>
          <p:cNvSpPr/>
          <p:nvPr/>
        </p:nvSpPr>
        <p:spPr>
          <a:xfrm>
            <a:off x="4754880" y="2999859"/>
            <a:ext cx="4023360" cy="256032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r>
              <a:rPr lang="en-US" sz="900" b="1" dirty="0">
                <a:solidFill>
                  <a:srgbClr val="FFFFFF"/>
                </a:solidFill>
              </a:rPr>
              <a:t>H : Channel &amp; Avg. CSAT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Complaint Reason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90843710"/>
              </p:ext>
            </p:extLst>
          </p:nvPr>
        </p:nvGraphicFramePr>
        <p:xfrm>
          <a:off x="274320" y="914400"/>
          <a:ext cx="4166062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3079257211"/>
              </p:ext>
            </p:extLst>
          </p:nvPr>
        </p:nvGraphicFramePr>
        <p:xfrm>
          <a:off x="4754880" y="914400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/>
        </p:nvGraphicFramePr>
        <p:xfrm>
          <a:off x="274320" y="3200400"/>
          <a:ext cx="859536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Text 3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53935"/>
                </a:solidFill>
              </a:rPr>
              <a:t> Billing Questions dominate at 8,030 total and 6,934 negative cases — 4.9 Times more than other issue types combined.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Operational Factor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1440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754880" y="914400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2"/>
          <p:cNvGraphicFramePr/>
          <p:nvPr>
            <p:extLst>
              <p:ext uri="{D42A27DB-BD31-4B8C-83A1-F6EECF244321}">
                <p14:modId xmlns:p14="http://schemas.microsoft.com/office/powerpoint/2010/main" val="1835722392"/>
              </p:ext>
            </p:extLst>
          </p:nvPr>
        </p:nvGraphicFramePr>
        <p:xfrm>
          <a:off x="274320" y="2926080"/>
          <a:ext cx="859536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54864" cy="1188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365760" cy="3657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Sentiment Crisis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17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51.7% </a:t>
            </a:r>
            <a:r>
              <a:rPr lang="en-US" sz="950" dirty="0">
                <a:solidFill>
                  <a:srgbClr val="64748B"/>
                </a:solidFill>
              </a:rPr>
              <a:t>of customers </a:t>
            </a:r>
            <a:r>
              <a:rPr lang="en-US" sz="950" b="1" dirty="0">
                <a:solidFill>
                  <a:srgbClr val="64748B"/>
                </a:solidFill>
              </a:rPr>
              <a:t>(15,526)</a:t>
            </a:r>
            <a:r>
              <a:rPr lang="en-US" sz="950" dirty="0">
                <a:solidFill>
                  <a:srgbClr val="64748B"/>
                </a:solidFill>
              </a:rPr>
              <a:t> have negative sentiment. Only </a:t>
            </a:r>
            <a:r>
              <a:rPr lang="en-US" sz="950" b="1" dirty="0">
                <a:solidFill>
                  <a:srgbClr val="64748B"/>
                </a:solidFill>
              </a:rPr>
              <a:t>21.6%</a:t>
            </a:r>
            <a:r>
              <a:rPr lang="en-US" sz="950" dirty="0">
                <a:solidFill>
                  <a:srgbClr val="64748B"/>
                </a:solidFill>
              </a:rPr>
              <a:t> are positive. This is a critical warning sign for churn.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54864" cy="1188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325880"/>
            <a:ext cx="365760" cy="3657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1115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Billing is Root Cause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417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Billing Questions has </a:t>
            </a:r>
            <a:r>
              <a:rPr lang="en-US" sz="950" b="1" dirty="0">
                <a:solidFill>
                  <a:srgbClr val="64748B"/>
                </a:solidFill>
              </a:rPr>
              <a:t>8,030 </a:t>
            </a:r>
            <a:r>
              <a:rPr lang="en-US" sz="950" dirty="0">
                <a:solidFill>
                  <a:srgbClr val="64748B"/>
                </a:solidFill>
              </a:rPr>
              <a:t>cases and </a:t>
            </a:r>
            <a:r>
              <a:rPr lang="en-US" sz="950" b="1" dirty="0">
                <a:solidFill>
                  <a:srgbClr val="64748B"/>
                </a:solidFill>
              </a:rPr>
              <a:t>6,934</a:t>
            </a:r>
            <a:r>
              <a:rPr lang="en-US" sz="950" dirty="0">
                <a:solidFill>
                  <a:srgbClr val="64748B"/>
                </a:solidFill>
              </a:rPr>
              <a:t> negative sentiments — far exceeding the Payments and Service Outages.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31720"/>
            <a:ext cx="54864" cy="1188720"/>
          </a:xfrm>
          <a:prstGeom prst="rect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2651760"/>
            <a:ext cx="365760" cy="365760"/>
          </a:xfrm>
          <a:prstGeom prst="ellipse">
            <a:avLst/>
          </a:prstGeom>
          <a:solidFill>
            <a:srgbClr val="2874F0"/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Response Time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Customers with </a:t>
            </a:r>
            <a:r>
              <a:rPr lang="en-US" sz="950" b="1" dirty="0">
                <a:solidFill>
                  <a:srgbClr val="64748B"/>
                </a:solidFill>
              </a:rPr>
              <a:t>'Above SLA</a:t>
            </a:r>
            <a:r>
              <a:rPr lang="en-US" sz="950" dirty="0">
                <a:solidFill>
                  <a:srgbClr val="64748B"/>
                </a:solidFill>
              </a:rPr>
              <a:t>' response have </a:t>
            </a:r>
            <a:r>
              <a:rPr lang="en-US" sz="950" b="1" dirty="0">
                <a:solidFill>
                  <a:srgbClr val="64748B"/>
                </a:solidFill>
              </a:rPr>
              <a:t>Avg. CSAT 5.60 </a:t>
            </a:r>
            <a:r>
              <a:rPr lang="en-US" sz="950" dirty="0">
                <a:solidFill>
                  <a:srgbClr val="64748B"/>
                </a:solidFill>
              </a:rPr>
              <a:t>(more satisfied) vs </a:t>
            </a:r>
            <a:r>
              <a:rPr lang="en-US" sz="950" b="1" dirty="0">
                <a:solidFill>
                  <a:srgbClr val="64748B"/>
                </a:solidFill>
              </a:rPr>
              <a:t>5.52</a:t>
            </a:r>
            <a:r>
              <a:rPr lang="en-US" sz="950" dirty="0">
                <a:solidFill>
                  <a:srgbClr val="64748B"/>
                </a:solidFill>
              </a:rPr>
              <a:t> for </a:t>
            </a:r>
            <a:r>
              <a:rPr lang="en-US" sz="950" b="1" dirty="0">
                <a:solidFill>
                  <a:srgbClr val="64748B"/>
                </a:solidFill>
              </a:rPr>
              <a:t>'Within SLA'</a:t>
            </a:r>
            <a:r>
              <a:rPr lang="en-US" sz="950" dirty="0">
                <a:solidFill>
                  <a:srgbClr val="64748B"/>
                </a:solidFill>
              </a:rPr>
              <a:t>. This suggests SLA Time targets for Agents may be set too Rushed. Faster isn’t better approach.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54880" y="2331720"/>
            <a:ext cx="54864" cy="1188720"/>
          </a:xfrm>
          <a:prstGeom prst="rect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2651760"/>
            <a:ext cx="365760" cy="365760"/>
          </a:xfrm>
          <a:prstGeom prst="ellipse">
            <a:avLst/>
          </a:prstGeom>
          <a:solidFill>
            <a:srgbClr val="1A1A5E"/>
          </a:solidFill>
          <a:ln w="12700">
            <a:solidFill>
              <a:srgbClr val="1A1A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24414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Chatbot Underperformance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743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Chatbot channel scores the lowest </a:t>
            </a:r>
            <a:r>
              <a:rPr lang="en-US" sz="950" b="1" dirty="0">
                <a:solidFill>
                  <a:srgbClr val="64748B"/>
                </a:solidFill>
              </a:rPr>
              <a:t>Avg. CSAT (</a:t>
            </a:r>
            <a:r>
              <a:rPr lang="en-US" sz="950" dirty="0">
                <a:solidFill>
                  <a:srgbClr val="64748B"/>
                </a:solidFill>
              </a:rPr>
              <a:t>5.46). Automation quality is lagging and frustrating customers. This need to be evaluated.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3657600"/>
            <a:ext cx="54864" cy="118872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11480" y="3977640"/>
            <a:ext cx="365760" cy="365760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Kolkata Needs Attention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Kolkata scores the lowest </a:t>
            </a:r>
            <a:r>
              <a:rPr lang="en-US" sz="950" b="1" dirty="0">
                <a:solidFill>
                  <a:srgbClr val="64748B"/>
                </a:solidFill>
              </a:rPr>
              <a:t>Avg. CSAT (5.46) </a:t>
            </a:r>
            <a:r>
              <a:rPr lang="en-US" sz="950" dirty="0">
                <a:solidFill>
                  <a:srgbClr val="64748B"/>
                </a:solidFill>
              </a:rPr>
              <a:t>despite having fewer customers </a:t>
            </a:r>
            <a:r>
              <a:rPr lang="en-US" sz="950" b="1" dirty="0">
                <a:solidFill>
                  <a:srgbClr val="64748B"/>
                </a:solidFill>
              </a:rPr>
              <a:t>(1,818). </a:t>
            </a:r>
            <a:r>
              <a:rPr lang="en-US" sz="950" dirty="0">
                <a:solidFill>
                  <a:srgbClr val="64748B"/>
                </a:solidFill>
              </a:rPr>
              <a:t>Quality over quantity issue.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54864" cy="11887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892040" y="3977640"/>
            <a:ext cx="365760" cy="36576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920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49240" y="3767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Seasonal CSAT Dip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49240" y="4069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June shows a sharp drop to </a:t>
            </a:r>
            <a:r>
              <a:rPr lang="en-US" sz="950" b="1" dirty="0">
                <a:solidFill>
                  <a:srgbClr val="64748B"/>
                </a:solidFill>
              </a:rPr>
              <a:t>5.31 (from May's 5.84 peak) </a:t>
            </a:r>
            <a:r>
              <a:rPr lang="en-US" sz="950" dirty="0">
                <a:solidFill>
                  <a:srgbClr val="64748B"/>
                </a:solidFill>
              </a:rPr>
              <a:t>— possible operational overload or policy change impact.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BDE0"/>
                </a:solidFill>
              </a:rPr>
              <a:t>Actionable steps to improve customer satisfaction and retention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3935"/>
                </a:solidFill>
              </a:rPr>
              <a:t>HIGH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Billing Processes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727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</a:rPr>
              <a:t>Deploy a dedicated billing support team. Simplify invoicing, add self-service portals, and create real-time billing transparency to reduce the 6,934 negative billing cases.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53935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53935"/>
                </a:solidFill>
              </a:rPr>
              <a:t>HIGH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440680" y="12618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Revamp Chatbot Quality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572768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</a:rPr>
              <a:t>Invest in AI chatbot training with updated and efficient NLP models. Add escalation triggers when sentiment turns negative to route customers to human agents faster.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C00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5760" y="3044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7C00"/>
                </a:solidFill>
              </a:rPr>
              <a:t>MED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960120" y="2523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 Kolkata Center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834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</a:rPr>
              <a:t>Conduct quality audits for Kolkata call center. Implement agent training, targeted upskilling, and performance KPIs to match Chennai's 5.63 CSAT.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496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7C00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846320" y="3044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7C00"/>
                </a:solidFill>
              </a:rPr>
              <a:t>MED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40680" y="2523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Fix the Response Time Targets for Agents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834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</a:rPr>
              <a:t>Analyze why Above-SLA responses score higher CSAT. Customers may prefer callbacks with better preparation. Consider quality-first over speed-first SLA design.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6576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4306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LOW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960120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Seasonal Surge Planning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0965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8F0"/>
                </a:solidFill>
              </a:rPr>
              <a:t>Prepare June operational playbooks — extra staffing, proactive billing reminders, and customer communication to prevent the CSAT dip seen every June.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712464"/>
            <a:ext cx="4114800" cy="11430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7D32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846320" y="430682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E7D32"/>
                </a:solidFill>
              </a:rPr>
              <a:t>LOW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440680" y="37856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Gender-Neutral Programs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40680" y="40965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C8D8F0"/>
                </a:solidFill>
              </a:rPr>
              <a:t>Since both genders show equal dissatisfaction, solutions should be universally customer-centric. Don’t separate customers by gender rather fix the issues faster for everyone.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Flipkart's customer service data reveals a </a:t>
            </a:r>
            <a:r>
              <a:rPr lang="en-US" sz="1400" b="1" dirty="0">
                <a:solidFill>
                  <a:srgbClr val="FF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dissatisfaction problem</a:t>
            </a:r>
            <a:r>
              <a:rPr lang="en-US" sz="14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concentrated around billing issues, chatbot failures, and regional call center inconsistencies.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DE0"/>
                </a:solidFill>
              </a:rPr>
              <a:t>The analysis demonstrates that improving customer service quality is directly tied to retention. The following priority actions are recommended: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billing complexity — the #1 driver of negative sentiment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chatbot intelligence and escalation flows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quality across all 4 call centers with a major focus on Kolkata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seasonal CSAT risks in June with proactive staffing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3668" y="3656006"/>
            <a:ext cx="7773784" cy="411480"/>
          </a:xfrm>
          <a:prstGeom prst="rect">
            <a:avLst/>
          </a:prstGeom>
          <a:solidFill>
            <a:srgbClr val="2874F0">
              <a:alpha val="30000"/>
            </a:srgbClr>
          </a:solidFill>
          <a:ln w="12700">
            <a:solidFill>
              <a:srgbClr val="287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8587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637927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DE0"/>
                </a:solidFill>
              </a:rPr>
              <a:t>Implementing these changes will improve CSAT scores, reduce churn, and strengthen Flipkart's competitive position in India's e-commerce market.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4543A-D535-5B99-EA7B-6B94F063412A}"/>
              </a:ext>
            </a:extLst>
          </p:cNvPr>
          <p:cNvSpPr txBox="1"/>
          <p:nvPr/>
        </p:nvSpPr>
        <p:spPr>
          <a:xfrm>
            <a:off x="3553689" y="4167263"/>
            <a:ext cx="1275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Thank You 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4D73E1-659A-ABD4-0EB1-BB49F0BA4B61}"/>
              </a:ext>
            </a:extLst>
          </p:cNvPr>
          <p:cNvSpPr txBox="1"/>
          <p:nvPr/>
        </p:nvSpPr>
        <p:spPr>
          <a:xfrm>
            <a:off x="317271" y="4601079"/>
            <a:ext cx="2280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Nishant Kumar Mishra </a:t>
            </a:r>
          </a:p>
        </p:txBody>
      </p:sp>
      <p:pic>
        <p:nvPicPr>
          <p:cNvPr id="14" name="Picture 2" descr="flipkart inventory management system zap inventory #39904">
            <a:extLst>
              <a:ext uri="{FF2B5EF4-FFF2-40B4-BE49-F238E27FC236}">
                <a16:creationId xmlns:a16="http://schemas.microsoft.com/office/drawing/2014/main" id="{2863DED7-B7F2-57FE-3E81-8290759F6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45" y="4518730"/>
            <a:ext cx="437110" cy="43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943</Words>
  <Application>Microsoft Office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Flipkart Customer Service Analysis</dc:title>
  <dc:subject>PptxGenJS Presentation</dc:subject>
  <dc:creator>PptxGenJS</dc:creator>
  <cp:lastModifiedBy>NISHANT MISHRA</cp:lastModifiedBy>
  <cp:revision>7</cp:revision>
  <dcterms:created xsi:type="dcterms:W3CDTF">2026-03-06T03:24:41Z</dcterms:created>
  <dcterms:modified xsi:type="dcterms:W3CDTF">2026-03-10T22:30:19Z</dcterms:modified>
</cp:coreProperties>
</file>